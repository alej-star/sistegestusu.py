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384048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69680" y="6172200"/>
            <a:ext cx="3383280" cy="685800"/>
          </a:xfrm>
          <a:prstGeom prst="rect">
            <a:avLst/>
          </a:prstGeom>
          <a:solidFill>
            <a:srgbClr val="27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Sistema de Gestión de Usuarios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Proyecto práctico con Python, Tkinter y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t>Presentación basada en los requisitos del proyecto y en la implementación desarrollada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0060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CRUD • Base de datos • Validaciones • Treeview • Gestión de archivos e imágenes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Situación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REQUERIMIENTOS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empresa necesita una aplicación de escritorio para administrar la información de sus usuarios.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registro mediante documentos de texto y hojas de cálculo dificulta consultar, modificar y eliminar información.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solución propuesta centraliza los datos en una interfaz gráfica.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documento establece Python como lenguaje, Tkinter para la interfaz y SQLite como sistema de almacenamiento.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Objetivo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Desarrollar una aplicación de escritorio capaz de realizar las operaciones CRUD.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Crear usuarios y almacenar sus datos.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Consultar registros existentes.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Actualizar información de usuarios.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Eliminar registros con confirmación.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Visualizar los registros almacenados mediante una tabla.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Requisitos y solución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48006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73A"/>
                </a:solidFill>
                <a:latin typeface="Aptos"/>
              </a:defRPr>
            </a:pPr>
            <a:r>
              <a:t>Documento guía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ID, nombre, contraseña, apellido, dirección y comentarios.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79191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Botones Crear, Leer, Actualizar, Eliminar y Limpiar.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392424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Tabla Treeview y selección de registros.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105656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Validaciones de campos e 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818888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Menú BBDD con Conectar y Salir.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097280"/>
            <a:ext cx="5303520" cy="4800600"/>
          </a:xfrm>
          <a:prstGeom prst="roundRect">
            <a:avLst/>
          </a:prstGeom>
          <a:solidFill>
            <a:srgbClr val="F2F6FA"/>
          </a:solidFill>
          <a:ln>
            <a:solidFill>
              <a:srgbClr val="2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73A"/>
                </a:solidFill>
                <a:latin typeface="Aptos"/>
              </a:defRPr>
            </a:pPr>
            <a:r>
              <a:t>Código desarrollado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Amplía el registro con ciudad, código postal, género, estado y tipo de usuario.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79191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Permite asociar imágenes y archivos adjuntos.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92424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Incluye búsqueda por múltiples campos y Mostrar todos.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05656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Interfaz adaptable y botones diferenciados por color.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18888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Incluye atajos Ctrl + F y Esc.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Información que administra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Identificación: ID del usuario.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Datos personales: nombre, apellido, dirección y ciudad.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Datos complementarios: código postal, género, estado y tipo de usuario.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Recursos asociados: imagen y archivo adjunto.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estado permite diferenciar usuarios activos e inactivos.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Los tipos de usuario contemplados son Administrador, Supervisor, Empleado, Cliente e Invitado.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Tecnologías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TECNOLOGÍA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0058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286000" cy="1005840"/>
          </a:xfrm>
          <a:prstGeom prst="roundRect">
            <a:avLst/>
          </a:prstGeom>
          <a:solidFill>
            <a:srgbClr val="75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0756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Tkinter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286000" cy="1005840"/>
          </a:xfrm>
          <a:prstGeom prst="roundRect">
            <a:avLst/>
          </a:prstGeom>
          <a:solidFill>
            <a:srgbClr val="27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0756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2194560" cy="1005840"/>
          </a:xfrm>
          <a:prstGeom prst="roundRect">
            <a:avLst/>
          </a:prstGeom>
          <a:solidFill>
            <a:srgbClr val="E0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20756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Pillow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331720"/>
            <a:ext cx="54864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2331720"/>
            <a:ext cx="54864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2331720"/>
            <a:ext cx="54864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8273A"/>
                </a:solidFill>
                <a:latin typeface="Aptos"/>
              </a:defRPr>
            </a:pPr>
            <a:r>
              <a:t>Flujo general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232A32"/>
                </a:solidFill>
                <a:latin typeface="Aptos"/>
              </a:defRPr>
            </a:pPr>
            <a:r>
              <a:t>Usuario → Interfaz Tkinter → funciones del programa → consultas SQL → SQLite</a:t>
            </a:r>
            <a:br/>
            <a:r>
              <a:t>                                      ↘ imágenes / archivos → carpetas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6E78"/>
                </a:solidFill>
                <a:latin typeface="Aptos"/>
              </a:defRPr>
            </a:pPr>
            <a:r>
              <a:t>Además se utilizan pathlib para rutas y shutil para copiar imágenes y archivos.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Base de datos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BASE DE DATOS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implementación utiliza una base de datos local llamada usuarios.db.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tabla principal es usuarios.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tabla contiene ID, nombre, apellido, dirección, ciudad, código postal, género, estado, tipo de usuario, imagen y archivo.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estructura se crea automáticamente mediante CREATE TABLE IF NOT EXISTS.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No se requiere una base de datos externa.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Operaciones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2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7965E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Insertar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Crear un nuevo usuario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B6CB0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Consultar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Buscar y visualizar registros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E0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E0842D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Actualizar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Modificar el registro seleccionado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BE3737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Eliminar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Eliminar un registro con confirmación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646E78"/>
                </a:solidFill>
                <a:latin typeface="Aptos"/>
              </a:defRPr>
            </a:pPr>
            <a:r>
              <a:t>La aplicación también incluye LIMPIAR para restablecer el formulario y la selección actual.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Validaciones y seguridad básica del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VALIDACIONES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nombre es obligatorio antes de registrar o actualizar.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apellido es obligatorio.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tipo de usuario es obligatorio.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sistema muestra mensajes de advertencia cuando falta información requerida.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eliminación solicita confirmación antes de borrar un registro.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búsqueda y actualización trabajan sobre registros seleccionados o consultados.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Interfaz 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Formulario para ingresar y editar la información del usuario.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Tabla Treeview para visualizar los registros.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Selección de una fila para cargar automáticamente sus datos al formulario.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Botones diferenciados visualmente para facilitar la identificación de las acciones.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Diseño adaptable mediante una distribución basada en grid.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Menú y botón de salida para controlar el funcionamiento de la aplicación.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Funciones adicionales implementadas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FUNCIONES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Aptos"/>
              </a:defRPr>
            </a:pPr>
            <a:r>
              <a:t>Búsqueda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Permite consultar por ID, nombre, apellido, dirección, ciudad, código postal, género, estado y tipo de usuario.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75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754EA0"/>
                </a:solidFill>
                <a:latin typeface="Aptos"/>
              </a:defRPr>
            </a:pPr>
            <a:r>
              <a:t>Imágenes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51460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Selecciona JPG, JPEG, PNG, GIF o BMP, las copia a imagenes/ y muestra una vista previa.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E0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0842D"/>
                </a:solidFill>
                <a:latin typeface="Aptos"/>
              </a:defRPr>
            </a:pPr>
            <a:r>
              <a:t>Archivos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Permite adjuntar archivos y copiarlos automáticamente a la carpeta archivos/.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6E78"/>
                </a:solidFill>
                <a:latin typeface="Aptos"/>
              </a:defRPr>
            </a:pPr>
            <a:r>
              <a:t>También existe “Mostrar todos” para recuperar todos los registros.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Secuencia de desarrollo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ptos"/>
              </a:defRPr>
            </a:pPr>
            <a:r>
              <a:t>El proyecto se construyó por etapas, siguiendo la secuencia propuesta en la guía.</a:t>
            </a:r>
          </a:p>
          <a:p>
            <a:pPr>
              <a:spcAft>
                <a:spcPts val="1000"/>
              </a:spcAft>
              <a:defRPr sz="2100">
                <a:latin typeface="Aptos"/>
              </a:defRPr>
            </a:pPr>
            <a:r>
              <a:t>La implementación final conecta: Python → variables → Tkinter → eventos → SQLite → SQL → CRUD → validaciones → Treeview.</a:t>
            </a:r>
          </a:p>
          <a:p>
            <a:pPr>
              <a:spcAft>
                <a:spcPts val="1000"/>
              </a:spcAft>
              <a:defRPr sz="2100">
                <a:latin typeface="Aptos"/>
              </a:defRPr>
            </a:pPr>
            <a:r>
              <a:t>Después se incorporaron mejoras funcionales: búsqueda, menú, imágenes, archivos y nuevos campos.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1556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Flujo del desarrollo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1463040"/>
            <a:ext cx="38404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Consolas" panose="020B0609020204030204"/>
              </a:defRPr>
            </a:pPr>
            <a:r>
              <a:t>Python</a:t>
            </a:r>
            <a:br/>
            <a:r>
              <a:t>  ↓</a:t>
            </a:r>
            <a:br/>
            <a:r>
              <a:t>Tkinter + variables</a:t>
            </a:r>
            <a:br/>
            <a:r>
              <a:t>  ↓</a:t>
            </a:r>
            <a:br/>
            <a:r>
              <a:t>SQLite + SQL</a:t>
            </a:r>
            <a:br/>
            <a:r>
              <a:t>  ↓</a:t>
            </a:r>
            <a:br/>
            <a:r>
              <a:t>CRUD</a:t>
            </a:r>
            <a:br/>
            <a:r>
              <a:t>  ↓</a:t>
            </a:r>
            <a:br/>
            <a:r>
              <a:t>Validaciones + Treeview</a:t>
            </a:r>
            <a:br/>
            <a:r>
              <a:t>  ↓</a:t>
            </a:r>
            <a:br/>
            <a:r>
              <a:t>Mejoras de usabilidad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1 — Preparación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Lo que plantea la guía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Instalar Python y un editor.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Crear una carpeta para el proyecto.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Crear el archivo principal.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Ejecutar una primera aplicación básica.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Lo realizado en el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trabaja con un archivo Python como aplicación principal.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importan Tkinter, SQLite, pathlib, shutil y Pillow.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define BASE_DIR para trabajar con rutas relativas al programa.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preparan automáticamente las carpetas necesarias.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1032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Parte clave del código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1060704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103327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 panose="020B0609020204030204"/>
              </a:defRPr>
            </a:pPr>
            <a:r>
              <a:t>BASE_DIR = Path(__file__).resolve().parent</a:t>
            </a:r>
            <a:br/>
            <a:r>
              <a:t>DB_DIR = BASE_DIR / "database"</a:t>
            </a:r>
            <a:br/>
            <a:r>
              <a:t>IMAGENES_DIR = BASE_DIR / "imagenes"</a:t>
            </a:r>
            <a:br/>
            <a:r>
              <a:t>ARCHIVOS_DIR = BASE_DIR / "archivos"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2 — Construcción de la interfaz con Tkinter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Se crea la ventana principal con Tk().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Se configura tamaño inicial de 1120 × 720 y un tamaño mínimo de 950 × 620.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Se utilizan Frame, LabelFrame, Label, Entry, Combobox, Button, Text y Menu.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distribución utiliza grid para que los elementos puedan adaptarse al tamaño de la ventana.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tabla de registros se construye con ttk.Treeview.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36007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Ejemplo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607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983479"/>
            <a:ext cx="10332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 panose="020B0609020204030204"/>
              </a:defRPr>
            </a:pPr>
            <a:r>
              <a:t>ventana = Tk()</a:t>
            </a:r>
            <a:br/>
            <a:r>
              <a:t>ventana.title("SISTEMA DE GESTION USUARIOS")</a:t>
            </a:r>
            <a:br/>
            <a:r>
              <a:t>ventana.geometry("1120x720")</a:t>
            </a:r>
            <a:br/>
            <a:r>
              <a:t>ventana.minsize(950, 620)</a:t>
            </a:r>
            <a:br/>
            <a:r>
              <a:t>ventana.columnconfigure(0, weight=1)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3 — Variables del formulario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Variables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StringVar para ID, nombre, apellido, dirección y ciudad.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StringVar para código postal, tipo de usuario, correo, puesto y tipo de sangre.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StringVar para rutas de imagen, archivo y texto de búsqueda.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BooleanVar para controlar el estado Activo/Inactivo.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¿Para qué sirven?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Conectan los controles de Tkinter con los datos.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Permiten leer y modificar los valores del formulario.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Facilitan limpiar y volver a cargar información.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Al seleccionar una fila, los valores de la tabla regresan al formulario.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Ejemplo real del código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10607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332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nsolas" panose="020B0609020204030204"/>
              </a:defRPr>
            </a:pPr>
            <a:r>
              <a:t>nombre = StringVar()</a:t>
            </a:r>
            <a:br/>
            <a:r>
              <a:t>apellido = StringVar()</a:t>
            </a:r>
            <a:br/>
            <a:r>
              <a:t>tipo_usuario = StringVar(value="Seleccione")</a:t>
            </a:r>
            <a:br/>
            <a:r>
              <a:t>correo = StringVar()</a:t>
            </a:r>
            <a:br/>
            <a:r>
              <a:t>puesto = StringVar(value="Seleccione")</a:t>
            </a:r>
            <a:br/>
            <a:r>
              <a:t>tipo_sangre = StringVar(value="Seleccione")</a:t>
            </a:r>
            <a:br/>
            <a:r>
              <a:t>usuario_activo = BooleanVar(value=False)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4 — SQLite y creación de la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aplicación usa SQLite, por lo que no necesita una base de datos externa.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función conectar() abre la conexión con usuarios.db.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función crear_tabla() crea la tabla usuarios si todavía no existe.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ID es PRIMARY KEY AUTOINCREMENT.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versión final incluye correo, puesto, tipo de sangre y observaciones, además de imagen y archivo.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416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Estructura simplificada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8992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10515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def conectar():</a:t>
            </a:r>
            <a:br/>
            <a:r>
              <a:t>    return sqlite3.connect(DB_PATH)</a:t>
            </a:r>
            <a:br/>
            <a:br/>
            <a:r>
              <a:t>CREATE TABLE IF NOT EXISTS usuarios (</a:t>
            </a:r>
            <a:br/>
            <a:r>
              <a:t>    id INTEGER PRIMARY KEY AUTOINCREMENT,</a:t>
            </a:r>
            <a:br/>
            <a:r>
              <a:t>    nombre TEXT NOT NULL,</a:t>
            </a:r>
            <a:br/>
            <a:r>
              <a:t>    apellido TEXT NOT NULL,</a:t>
            </a:r>
            <a:br/>
            <a:r>
              <a:t>    ...</a:t>
            </a:r>
            <a:br/>
            <a:r>
              <a:t>    tipo_sangre TEXT,</a:t>
            </a:r>
            <a:br/>
            <a:r>
              <a:t>    observaciones TEXT,</a:t>
            </a:r>
            <a:br/>
            <a:r>
              <a:t>    imagen TEXT,</a:t>
            </a:r>
            <a:br/>
            <a:r>
              <a:t>    archivo TEXT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Etapas 5 a 8 — Implementación del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CREATE — insertar()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Primero ejecuta validar().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Obtiene el estado Activo/Inactivo.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Ejecuta INSERT INTO usuarios.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Confirma con commit().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Actualiza la tabla y limpia el formulario.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READ / UPDATE /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mostrar_todos() consulta los registros con SELECT.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actualizar() modifica el usuario mediante UPDATE.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eliminar() usa DELETE y solicita confirmación.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Las operaciones usan parámetros ? en SQL.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Después de modificar o eliminar se actualiza la tabla.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Operaciones SQL principales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106070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3327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 panose="020B0609020204030204"/>
              </a:defRPr>
            </a:pPr>
            <a:r>
              <a:t>INSERT INTO usuarios (...)</a:t>
            </a:r>
            <a:br/>
            <a:r>
              <a:t>VALUES (?, ?, ?, ..., ?)</a:t>
            </a:r>
            <a:br/>
            <a:br/>
            <a:r>
              <a:t>UPDATE usuarios SET nombre = ?, ... WHERE id = ?</a:t>
            </a:r>
            <a:br/>
            <a:br/>
            <a:r>
              <a:t>DELETE FROM usuarios WHERE id =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9 — Validaciones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nombre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apellido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Debe seleccionarse un tipo de usuario.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Si se escribe correo, debe cumplir un formato válido mediante una expresión regular.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puesto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tipo de sangre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Los errores se muestran mediante messagebox y el cursor vuelve al campo correspondiente.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36007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Ejemplo de validación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789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983479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if not nombre.get().strip():</a:t>
            </a:r>
            <a:br/>
            <a:r>
              <a:t>    messagebox.showwarning("Validación",</a:t>
            </a:r>
            <a:br/>
            <a:r>
              <a:t>                           "Debe ingresar el nombre.")</a:t>
            </a:r>
            <a:br/>
            <a:br/>
            <a:r>
              <a:t>if correo.get().strip():</a:t>
            </a:r>
            <a:br/>
            <a:r>
              <a:t>    if not re.match(r"^[^\s@]+@[^\s@]+\.[^\s@]+$",</a:t>
            </a:r>
            <a:br/>
            <a:r>
              <a:t>                    correo.get().strip()):</a:t>
            </a:r>
            <a:br/>
            <a:r>
              <a:t>       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Etapas 10 y 11 — Treeview y selección de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Treeview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Muestra los usuarios consultados desde SQLite.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actualiza con mostrar_todos().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La búsqueda también carga sus resultados en la tabla.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Permite consultar visualmente varios registros.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Selección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Al hacer clic en una fila se ejecuta seleccionar_usuario().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Los valores de la fila se asignan a las variables del formulario.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recuperan también imagen y archivo asociados.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Esto permite consultar, actualizar o eliminar el registro seleccionado.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36007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Evento de selección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92040"/>
            <a:ext cx="106984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79"/>
            <a:ext cx="10424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def seleccionar_usuario(event=None):</a:t>
            </a:r>
            <a:br/>
            <a:r>
              <a:t>    seleccion = tabla.selection()</a:t>
            </a:r>
            <a:br/>
            <a:r>
              <a:t>    valores = tabla.item(seleccion[0], "values")</a:t>
            </a:r>
            <a:br/>
            <a:r>
              <a:t>    id_usuario.set(valores[0])</a:t>
            </a:r>
            <a:br/>
            <a:r>
              <a:t>    nombre.set(valores[1])</a:t>
            </a:r>
            <a:br/>
            <a:r>
              <a:t>    apellido.set(valores[2])</a:t>
            </a:r>
            <a:br/>
            <a:r>
              <a:t>    ...</a:t>
            </a:r>
            <a:br/>
            <a:r>
              <a:t>    cargar_datos_adicionales(valores[0])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12 — Menú y control de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El código implementa una barra de menú con la opción MENU.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Desde MENU se puede mostrar todos los usuarios, limpiar el formulario y salir.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También existe un menú Ayuda con Ayuda y Acerca del sistema.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salida solicita confirmación antes de cerrar la ventana.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Esto amplía el requisito original de menú BBDD y lo adapta a la versión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Menú implementado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60704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846320"/>
            <a:ext cx="103327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menu_bbdd.add_command(</a:t>
            </a:r>
            <a:br/>
            <a:r>
              <a:t>    label="Mostrar todos los usuarios",</a:t>
            </a:r>
            <a:br/>
            <a:r>
              <a:t>    command=lambda: mostrar_todos()</a:t>
            </a:r>
            <a:br/>
            <a:r>
              <a:t>)</a:t>
            </a:r>
            <a:br/>
            <a:r>
              <a:t>menu_bbdd.add_command(</a:t>
            </a:r>
            <a:br/>
            <a:r>
              <a:t>    label="Limpiar formulario",</a:t>
            </a:r>
            <a:br/>
            <a:r>
              <a:t>    command=lambda: limpiar()</a:t>
            </a:r>
            <a:br/>
            <a:r>
              <a:t>)</a:t>
            </a:r>
            <a:br/>
            <a:r>
              <a:t>menu_bbdd.add_command(</a:t>
            </a:r>
            <a:br/>
            <a:r>
              <a:t>    label="Salir",</a:t>
            </a:r>
            <a:br/>
            <a:r>
              <a:t>    command=lambda: salir()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Mejoras incorporadas después del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Mejoras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Búsqueda por ID, nombre, apellido, dirección y ciudad.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Búsqueda por código postal, género, estado y tipo de usuario.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Búsqueda también por correo, puesto, tipo de sangre y observaciones.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Botón Mostrar todos para recuperar los registros.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Gestión de archivos e imágenes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Selección de imágenes JPG, JPEG, PNG, GIF y BMP.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Copia automática a la carpeta imagenes/.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Vista previa mediante Pillow.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Archivos adjuntos copiados a archivos/ y asociados al usuario.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12. Arquitectura inicial y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versión actual está desarrollada de forma estructurada: interfaz + funciones + persistencia SQLite.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guía propone como siguiente fase migrar a Programación Orientada a Objetos.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Una posible separación sería: Usuario, BaseDatos y Aplicación.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evolución permitiría aplicar encapsulamiento, herencia, polimorfismo, abstracción, SOLID y MVC.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meta sería separar responsabilidades y facilitar el mantenimiento del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16128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Propuesta de evolución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17320"/>
            <a:ext cx="42976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15087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 panose="020B0609020204030204"/>
              </a:defRPr>
            </a:pPr>
            <a:r>
              <a:t>Versión actual</a:t>
            </a:r>
            <a:br/>
            <a:r>
              <a:t>├── Tkinter / interfaz</a:t>
            </a:r>
            <a:br/>
            <a:r>
              <a:t>├── funciones CRUD</a:t>
            </a:r>
            <a:br/>
            <a:r>
              <a:t>├── validaciones</a:t>
            </a:r>
            <a:br/>
            <a:r>
              <a:t>├── SQLite / persistencia</a:t>
            </a:r>
            <a:br/>
            <a:r>
              <a:t>└── archivos e imágenes</a:t>
            </a:r>
            <a:br/>
            <a:br/>
            <a:r>
              <a:t>Siguiente evolución</a:t>
            </a:r>
            <a:br/>
            <a:r>
              <a:t>├── Usuario</a:t>
            </a:r>
            <a:br/>
            <a:r>
              <a:t>├── BaseDatos</a:t>
            </a:r>
            <a:br/>
            <a:r>
              <a:t>└── Aplicación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13–18. Producto final, evidencias y defensa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producto final es una aplicación de escritorio funcional para administrar usuarios.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Las evidencias principales son: ventana, base de datos, registro, consulta, actualización, eliminación, validaciones, Treeview, selección y código funcionando.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proyecto demuestra la relación entre Python, Tkinter, SQLite, SQL y CRUD.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defensa debe explicar no solo qué hace el programa, sino por qué cada función existe y cómo se relacionan sus componentes.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8736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Preguntas clave para la exposición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103327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434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 panose="020B0609020204030204"/>
              </a:defRPr>
            </a:pPr>
            <a:r>
              <a:t>Preguntas que debo poder responder:</a:t>
            </a:r>
            <a:br/>
            <a:r>
              <a:t>• ¿Qué problema resuelve?</a:t>
            </a:r>
            <a:br/>
            <a:r>
              <a:t>• ¿Por qué SQLite?</a:t>
            </a:r>
            <a:br/>
            <a:r>
              <a:t>• ¿Qué significa CRUD?</a:t>
            </a:r>
            <a:br/>
            <a:r>
              <a:t>• ¿Qué hace Tkinter?</a:t>
            </a:r>
            <a:br/>
            <a:r>
              <a:t>• ¿Para qué sirve Treeview?</a:t>
            </a:r>
            <a:br/>
            <a:r>
              <a:t>• ¿Qué hacen SELECT, INSERT, UPDATE y DELETE?</a:t>
            </a:r>
            <a:br/>
            <a:r>
              <a:t>• ¿Cómo se validan los datos?</a:t>
            </a:r>
            <a:br/>
            <a:r>
              <a:t>• ¿Cómo se conectan interfaz y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2420</Words>
  <Application>Microsoft Office PowerPoint</Application>
  <PresentationFormat>Panorámica</PresentationFormat>
  <Paragraphs>238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3WT6GH4-29855</cp:lastModifiedBy>
  <cp:revision>3</cp:revision>
  <dcterms:created xsi:type="dcterms:W3CDTF">2013-01-27T09:14:00Z</dcterms:created>
  <dcterms:modified xsi:type="dcterms:W3CDTF">2026-09-02T00:12:52Z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2058-12.1.0.28032</vt:lpwstr>
  </property>
  <property fmtid="{D5CDD505-2E9C-101B-9397-08002B2CF9AE}" pid="3" name="ICV">
    <vt:lpwstr>7000B54F71344F03BA0B538286DE1D98_12</vt:lpwstr>
  </property>
</Properties>
</file>